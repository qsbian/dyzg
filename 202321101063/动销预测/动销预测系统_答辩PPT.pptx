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55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5E4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6784848"/>
            <a:ext cx="12191695" cy="73152"/>
          </a:xfrm>
          <a:prstGeom prst="roundRect">
            <a:avLst/>
          </a:prstGeom>
          <a:solidFill>
            <a:srgbClr val="5E4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E4B8B"/>
                </a:solidFill>
                <a:latin typeface="宋体"/>
              </a:defRPr>
            </a:pPr>
            <a:r>
              <a:t>东亚重工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1A1A2E"/>
                </a:solidFill>
                <a:latin typeface="宋体"/>
              </a:defRPr>
            </a:pPr>
            <a:r>
              <a:t>动销预测系统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C757D"/>
                </a:solidFill>
                <a:latin typeface="宋体"/>
              </a:defRPr>
            </a:pPr>
            <a:r>
              <a:t>Sales Forecast System — 基于多算法回溯验证的零售动销智能预测平台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3657600"/>
            <a:ext cx="3047695" cy="27432"/>
          </a:xfrm>
          <a:prstGeom prst="roundRect">
            <a:avLst/>
          </a:prstGeom>
          <a:solidFill>
            <a:srgbClr val="5E4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0" y="457200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1A2E"/>
                </a:solidFill>
                <a:latin typeface="宋体"/>
              </a:defRPr>
            </a:pPr>
            <a:r>
              <a:t>程泽文 202321101063  |  骆宇鑫 202321101106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502920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C757D"/>
                </a:solidFill>
                <a:latin typeface="宋体"/>
              </a:defRPr>
            </a:pPr>
            <a:r>
              <a:t>2026 年 7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5E4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宋体"/>
              </a:defRPr>
            </a:pPr>
            <a:r>
              <a:t>项目背景与需求分析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02920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4572000" cy="1703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FD7E14"/>
                </a:solidFill>
                <a:latin typeface="宋体"/>
              </a:defRPr>
            </a:pPr>
            <a:r>
              <a:rPr dirty="0"/>
              <a:t>▎</a:t>
            </a:r>
            <a:r>
              <a:rPr dirty="0" err="1"/>
              <a:t>行业痛点</a:t>
            </a:r>
            <a:endParaRPr dirty="0"/>
          </a:p>
          <a:p>
            <a:pPr>
              <a:spcAft>
                <a:spcPts val="400"/>
              </a:spcAft>
              <a:defRPr sz="800" b="0">
                <a:solidFill>
                  <a:srgbClr val="1A1A2E"/>
                </a:solidFill>
                <a:latin typeface="宋体"/>
              </a:defRPr>
            </a:pPr>
            <a:endParaRPr dirty="0"/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宋体"/>
              </a:defRPr>
            </a:pPr>
            <a:r>
              <a:rPr dirty="0"/>
              <a:t>✗ </a:t>
            </a:r>
            <a:r>
              <a:rPr dirty="0" err="1"/>
              <a:t>零售企业</a:t>
            </a:r>
            <a:r>
              <a:rPr dirty="0"/>
              <a:t> SKU </a:t>
            </a:r>
            <a:r>
              <a:rPr dirty="0" err="1"/>
              <a:t>数量庞大，人工预测不现实</a:t>
            </a:r>
            <a:endParaRPr dirty="0"/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宋体"/>
              </a:defRPr>
            </a:pPr>
            <a:r>
              <a:rPr dirty="0"/>
              <a:t>✗ </a:t>
            </a:r>
            <a:r>
              <a:rPr dirty="0" err="1"/>
              <a:t>依赖主观经验判断，缺乏数据量化支撑</a:t>
            </a:r>
            <a:endParaRPr dirty="0"/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宋体"/>
              </a:defRPr>
            </a:pPr>
            <a:r>
              <a:rPr dirty="0"/>
              <a:t>✗ </a:t>
            </a:r>
            <a:r>
              <a:rPr dirty="0" err="1"/>
              <a:t>不同品类</a:t>
            </a:r>
            <a:r>
              <a:rPr dirty="0"/>
              <a:t>/</a:t>
            </a:r>
            <a:r>
              <a:rPr dirty="0" err="1"/>
              <a:t>渠道的销量模式差异巨大</a:t>
            </a:r>
            <a:endParaRPr dirty="0"/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宋体"/>
              </a:defRPr>
            </a:pPr>
            <a:r>
              <a:rPr dirty="0"/>
              <a:t>✗ </a:t>
            </a:r>
            <a:r>
              <a:rPr dirty="0" err="1"/>
              <a:t>间歇性需求（大量零值）传统方法难以处理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6400800" y="1188720"/>
            <a:ext cx="502920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0" y="1371600"/>
            <a:ext cx="4572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98754"/>
                </a:solidFill>
                <a:latin typeface="宋体"/>
              </a:defRPr>
            </a:pPr>
            <a:r>
              <a:rPr dirty="0"/>
              <a:t>▎</a:t>
            </a:r>
            <a:r>
              <a:rPr dirty="0" err="1"/>
              <a:t>项目目标</a:t>
            </a:r>
            <a:endParaRPr dirty="0"/>
          </a:p>
          <a:p>
            <a:pPr>
              <a:spcAft>
                <a:spcPts val="400"/>
              </a:spcAft>
              <a:defRPr sz="800" b="0">
                <a:solidFill>
                  <a:srgbClr val="1A1A2E"/>
                </a:solidFill>
                <a:latin typeface="宋体"/>
              </a:defRPr>
            </a:pPr>
            <a:endParaRPr dirty="0"/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宋体"/>
              </a:defRPr>
            </a:pPr>
            <a:r>
              <a:rPr dirty="0"/>
              <a:t>✓ </a:t>
            </a:r>
            <a:r>
              <a:rPr dirty="0" err="1"/>
              <a:t>基于</a:t>
            </a:r>
            <a:r>
              <a:rPr dirty="0"/>
              <a:t> </a:t>
            </a:r>
            <a:r>
              <a:rPr dirty="0" err="1"/>
              <a:t>OMS（订单管理系统）历史销售数据自动预测未来动销量</a:t>
            </a:r>
            <a:endParaRPr dirty="0"/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宋体"/>
              </a:defRPr>
            </a:pPr>
            <a:r>
              <a:rPr dirty="0"/>
              <a:t>✓ </a:t>
            </a:r>
            <a:r>
              <a:rPr dirty="0" err="1"/>
              <a:t>支持多维度（型号</a:t>
            </a:r>
            <a:r>
              <a:rPr dirty="0"/>
              <a:t>/</a:t>
            </a:r>
            <a:r>
              <a:rPr dirty="0" err="1"/>
              <a:t>品类</a:t>
            </a:r>
            <a:r>
              <a:rPr dirty="0"/>
              <a:t>/</a:t>
            </a:r>
            <a:r>
              <a:rPr dirty="0" err="1"/>
              <a:t>渠道）灵活预测</a:t>
            </a:r>
            <a:endParaRPr dirty="0"/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宋体"/>
              </a:defRPr>
            </a:pPr>
            <a:r>
              <a:rPr dirty="0"/>
              <a:t>✓ </a:t>
            </a:r>
            <a:r>
              <a:rPr dirty="0" err="1"/>
              <a:t>自动选择最优算法，避免人工调参</a:t>
            </a:r>
            <a:endParaRPr dirty="0"/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宋体"/>
              </a:defRPr>
            </a:pPr>
            <a:r>
              <a:rPr dirty="0"/>
              <a:t>✓ </a:t>
            </a:r>
            <a:r>
              <a:rPr dirty="0" err="1"/>
              <a:t>直观展示预测值、历史值、准确率三色对比</a:t>
            </a:r>
            <a:endParaRPr dirty="0"/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宋体"/>
              </a:defRPr>
            </a:pPr>
            <a:r>
              <a:rPr dirty="0"/>
              <a:t>✓ </a:t>
            </a:r>
            <a:r>
              <a:rPr dirty="0" err="1"/>
              <a:t>桌面端独立运行，零配置部署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1069848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420624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E4B8B"/>
                </a:solidFill>
                <a:latin typeface="宋体"/>
              </a:defRPr>
            </a:pPr>
            <a:r>
              <a:t>▎数据规模与技术挑战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66344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宋体"/>
              </a:defRPr>
            </a:pPr>
            <a:r>
              <a:rPr dirty="0" err="1"/>
              <a:t>数据源：OMS（订单管理系统</a:t>
            </a:r>
            <a:r>
              <a:rPr dirty="0"/>
              <a:t>）（</a:t>
            </a:r>
            <a:r>
              <a:rPr dirty="0" err="1"/>
              <a:t>订单管理系统）销售数据库</a:t>
            </a:r>
            <a:r>
              <a:rPr dirty="0"/>
              <a:t> (</a:t>
            </a:r>
            <a:r>
              <a:rPr dirty="0" err="1"/>
              <a:t>SQLite，轻量级数据库</a:t>
            </a:r>
            <a:r>
              <a:rPr dirty="0"/>
              <a:t>），</a:t>
            </a:r>
            <a:r>
              <a:rPr dirty="0" err="1"/>
              <a:t>涵盖</a:t>
            </a:r>
            <a:r>
              <a:rPr dirty="0"/>
              <a:t> 2018—2026 </a:t>
            </a:r>
            <a:r>
              <a:rPr dirty="0" err="1"/>
              <a:t>年销售记录，单表百万级行</a:t>
            </a:r>
            <a:endParaRPr dirty="0"/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宋体"/>
              </a:defRPr>
            </a:pPr>
            <a:r>
              <a:rPr dirty="0" err="1"/>
              <a:t>维度层级：大类</a:t>
            </a:r>
            <a:r>
              <a:rPr dirty="0"/>
              <a:t> → </a:t>
            </a:r>
            <a:r>
              <a:rPr dirty="0" err="1"/>
              <a:t>品类</a:t>
            </a:r>
            <a:r>
              <a:rPr dirty="0"/>
              <a:t> → </a:t>
            </a:r>
            <a:r>
              <a:rPr dirty="0" err="1"/>
              <a:t>细分类</a:t>
            </a:r>
            <a:r>
              <a:rPr dirty="0"/>
              <a:t> → </a:t>
            </a:r>
            <a:r>
              <a:rPr dirty="0" err="1"/>
              <a:t>渠道</a:t>
            </a:r>
            <a:r>
              <a:rPr dirty="0"/>
              <a:t> → </a:t>
            </a:r>
            <a:r>
              <a:rPr dirty="0" err="1"/>
              <a:t>型号，共</a:t>
            </a:r>
            <a:r>
              <a:rPr dirty="0"/>
              <a:t> 5 </a:t>
            </a:r>
            <a:r>
              <a:rPr dirty="0" err="1"/>
              <a:t>级聚合维度</a:t>
            </a:r>
            <a:endParaRPr dirty="0"/>
          </a:p>
          <a:p>
            <a:pPr>
              <a:spcAft>
                <a:spcPts val="400"/>
              </a:spcAft>
              <a:defRPr sz="1400" b="0">
                <a:solidFill>
                  <a:srgbClr val="6C757D"/>
                </a:solidFill>
                <a:latin typeface="宋体"/>
              </a:defRPr>
            </a:pPr>
            <a:r>
              <a:rPr dirty="0" err="1"/>
              <a:t>核心挑战：如何在</a:t>
            </a:r>
            <a:r>
              <a:rPr dirty="0"/>
              <a:t> 500+ </a:t>
            </a:r>
            <a:r>
              <a:rPr dirty="0" err="1"/>
              <a:t>个型号分组中，用</a:t>
            </a:r>
            <a:r>
              <a:rPr dirty="0"/>
              <a:t> 9 </a:t>
            </a:r>
            <a:r>
              <a:rPr dirty="0" err="1"/>
              <a:t>种算法自动择优，且保证界面流畅不卡死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宋体"/>
              </a:defRPr>
            </a:pPr>
            <a: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5E4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宋体"/>
              </a:defRPr>
            </a:pPr>
            <a:r>
              <a:t>系统架构设计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828800" cy="640080"/>
          </a:xfrm>
          <a:prstGeom prst="roundRect">
            <a:avLst/>
          </a:prstGeom>
          <a:solidFill>
            <a:srgbClr val="356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宋体"/>
              </a:defRPr>
            </a:pPr>
            <a:r>
              <a:t>数据层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188720"/>
            <a:ext cx="86868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926080" y="1261872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宋体"/>
              </a:defRPr>
            </a:pPr>
            <a:r>
              <a:t>SQLite（轻量级数据库）OMS</a:t>
            </a:r>
            <a:br/>
            <a:r>
              <a:t>只读连接 · DataFrame（数据框）聚合 · 多维度透视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65960"/>
            <a:ext cx="1828800" cy="640080"/>
          </a:xfrm>
          <a:prstGeom prst="roundRect">
            <a:avLst/>
          </a:prstGeom>
          <a:solidFill>
            <a:srgbClr val="5E4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宋体"/>
              </a:defRPr>
            </a:pPr>
            <a:r>
              <a:t>算法层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965960"/>
            <a:ext cx="86868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6080" y="2039112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宋体"/>
              </a:defRPr>
            </a:pPr>
            <a:r>
              <a:rPr lang="en-US" altLang="zh-CN" dirty="0"/>
              <a:t>8 </a:t>
            </a:r>
            <a:r>
              <a:rPr dirty="0" err="1"/>
              <a:t>种预测</a:t>
            </a:r>
            <a:r>
              <a:rPr lang="zh-CN" altLang="en-US" dirty="0"/>
              <a:t>算法</a:t>
            </a:r>
            <a:r>
              <a:rPr dirty="0"/>
              <a:t> · </a:t>
            </a:r>
            <a:r>
              <a:rPr dirty="0" err="1"/>
              <a:t>插件式架构</a:t>
            </a:r>
            <a:br>
              <a:rPr dirty="0"/>
            </a:br>
            <a:r>
              <a:rPr dirty="0"/>
              <a:t>Naive/SMA/Median/HW/Croston/RF/SARIMA/</a:t>
            </a:r>
            <a:r>
              <a:rPr dirty="0" err="1"/>
              <a:t>XGBoost</a:t>
            </a:r>
            <a:r>
              <a:rPr dirty="0"/>
              <a:t>/</a:t>
            </a:r>
            <a:r>
              <a:rPr dirty="0" err="1"/>
              <a:t>LightGBM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731520" y="2743200"/>
            <a:ext cx="1828800" cy="640080"/>
          </a:xfrm>
          <a:prstGeom prst="round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宋体"/>
              </a:defRPr>
            </a:pPr>
            <a:r>
              <a:t>验证层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2743200"/>
            <a:ext cx="86868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26080" y="2816352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宋体"/>
              </a:defRPr>
            </a:pPr>
            <a:r>
              <a:rPr dirty="0" err="1"/>
              <a:t>回溯验证</a:t>
            </a:r>
            <a:r>
              <a:rPr dirty="0"/>
              <a:t> · </a:t>
            </a:r>
            <a:r>
              <a:rPr dirty="0" err="1"/>
              <a:t>sMAPE（对称百分比误差）评估</a:t>
            </a:r>
            <a:br>
              <a:rPr dirty="0"/>
            </a:br>
            <a:r>
              <a:rPr dirty="0" err="1"/>
              <a:t>自动择优</a:t>
            </a:r>
            <a:r>
              <a:rPr dirty="0"/>
              <a:t> · </a:t>
            </a:r>
            <a:r>
              <a:rPr dirty="0" err="1"/>
              <a:t>数据状态分级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731520" y="3520440"/>
            <a:ext cx="1828800" cy="640080"/>
          </a:xfrm>
          <a:prstGeom prst="round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宋体"/>
              </a:defRPr>
            </a:pPr>
            <a:r>
              <a:t>展示层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3520440"/>
            <a:ext cx="86868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26080" y="3593592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宋体"/>
              </a:defRPr>
            </a:pPr>
            <a:r>
              <a:t>QTableView（虚拟表格视图）· HTML（富文本）委托</a:t>
            </a:r>
            <a:br/>
            <a:r>
              <a:t>三色数值对比 · CSV（逗号分隔值）导出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572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5E4B8B"/>
                </a:solidFill>
                <a:latin typeface="宋体"/>
              </a:defRPr>
            </a:pPr>
            <a:r>
              <a:t>▎核心参数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120640"/>
            <a:ext cx="2103120" cy="320040"/>
          </a:xfrm>
          <a:prstGeom prst="roundRect">
            <a:avLst/>
          </a:prstGeom>
          <a:solidFill>
            <a:srgbClr val="5E4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宋体"/>
              </a:defRPr>
            </a:pPr>
            <a:r>
              <a:t>预测维度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440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C757D"/>
                </a:solidFill>
                <a:latin typeface="宋体"/>
              </a:defRPr>
            </a:pPr>
            <a:r>
              <a:t>4 级 · 型号 → 品类 → 细分类 → 大类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17520" y="5120640"/>
            <a:ext cx="2103120" cy="320040"/>
          </a:xfrm>
          <a:prstGeom prst="roundRect">
            <a:avLst/>
          </a:prstGeom>
          <a:solidFill>
            <a:srgbClr val="5E4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宋体"/>
              </a:defRPr>
            </a:pPr>
            <a:r>
              <a:t>算法数量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5440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C757D"/>
                </a:solidFill>
                <a:latin typeface="宋体"/>
              </a:defRPr>
            </a:pPr>
            <a:r>
              <a:t>9 种 · 轻量 4 + 重型 5 · 自动择优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03520" y="5120640"/>
            <a:ext cx="2103120" cy="320040"/>
          </a:xfrm>
          <a:prstGeom prst="roundRect">
            <a:avLst/>
          </a:prstGeom>
          <a:solidFill>
            <a:srgbClr val="5E4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宋体"/>
              </a:defRPr>
            </a:pPr>
            <a:r>
              <a:t>预测范围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5440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C757D"/>
                </a:solidFill>
                <a:latin typeface="宋体"/>
              </a:defRPr>
            </a:pPr>
            <a:r>
              <a:t>≤ 24 个月 · 训练截止于起始月前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20" y="5120640"/>
            <a:ext cx="2103120" cy="320040"/>
          </a:xfrm>
          <a:prstGeom prst="roundRect">
            <a:avLst/>
          </a:prstGeom>
          <a:solidFill>
            <a:srgbClr val="5E4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宋体"/>
              </a:defRPr>
            </a:pPr>
            <a:r>
              <a:t>验证方法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5440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C757D"/>
                </a:solidFill>
                <a:latin typeface="宋体"/>
              </a:defRPr>
            </a:pPr>
            <a:r>
              <a:t>sMAPE（对称百分比误差）回溯验证 · 扩展窗口滚动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75520" y="5120640"/>
            <a:ext cx="2103120" cy="320040"/>
          </a:xfrm>
          <a:prstGeom prst="roundRect">
            <a:avLst/>
          </a:prstGeom>
          <a:solidFill>
            <a:srgbClr val="5E4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宋体"/>
              </a:defRPr>
            </a:pPr>
            <a:r>
              <a:t>性能保护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5440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C757D"/>
                </a:solidFill>
                <a:latin typeface="宋体"/>
              </a:defRPr>
            </a:pPr>
            <a:r>
              <a:t>&gt; 50 组自动关闭重型算法 · 500 行上限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宋体"/>
              </a:defRPr>
            </a:pPr>
            <a: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5E4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宋体"/>
              </a:defRPr>
            </a:pPr>
            <a:r>
              <a:t>预测算法选择机制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920240" cy="822960"/>
          </a:xfrm>
          <a:prstGeom prst="roundRect">
            <a:avLst/>
          </a:prstGeom>
          <a:solidFill>
            <a:srgbClr val="5E4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宋体"/>
              </a:defRPr>
            </a:pPr>
            <a:r>
              <a:t>训练数据</a:t>
            </a:r>
            <a:br/>
            <a:r>
              <a:t>(截止起始月前1月)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423160" y="1645920"/>
            <a:ext cx="274320" cy="274320"/>
          </a:xfrm>
          <a:prstGeom prst="rightArrow">
            <a:avLst/>
          </a:prstGeom>
          <a:solidFill>
            <a:srgbClr val="5E4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743200" y="1371600"/>
            <a:ext cx="1920240" cy="822960"/>
          </a:xfrm>
          <a:prstGeom prst="roundRect">
            <a:avLst/>
          </a:prstGeom>
          <a:solidFill>
            <a:srgbClr val="5E4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宋体"/>
              </a:defRPr>
            </a:pPr>
            <a:r>
              <a:t>回溯验证</a:t>
            </a:r>
            <a:br/>
            <a:r>
              <a:t>(保留2-4期测试)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709160" y="1645920"/>
            <a:ext cx="274320" cy="274320"/>
          </a:xfrm>
          <a:prstGeom prst="rightArrow">
            <a:avLst/>
          </a:prstGeom>
          <a:solidFill>
            <a:srgbClr val="5E4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0" y="1371600"/>
            <a:ext cx="1920240" cy="822960"/>
          </a:xfrm>
          <a:prstGeom prst="roundRect">
            <a:avLst/>
          </a:prstGeom>
          <a:solidFill>
            <a:srgbClr val="5E4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宋体"/>
              </a:defRPr>
            </a:pPr>
            <a:r>
              <a:t>sMAPE 评估</a:t>
            </a:r>
          </a:p>
          <a:p>
            <a:pPr algn="ctr">
              <a:defRPr sz="1100" b="0">
                <a:solidFill>
                  <a:srgbClr val="FFFFFF"/>
                </a:solidFill>
                <a:latin typeface="宋体"/>
              </a:defRPr>
            </a:pPr>
            <a:r>
              <a:t>（对称百分比误差）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995160" y="1645920"/>
            <a:ext cx="274320" cy="274320"/>
          </a:xfrm>
          <a:prstGeom prst="rightArrow">
            <a:avLst/>
          </a:prstGeom>
          <a:solidFill>
            <a:srgbClr val="5E4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0" y="1371600"/>
            <a:ext cx="1920240" cy="822960"/>
          </a:xfrm>
          <a:prstGeom prst="roundRect">
            <a:avLst/>
          </a:prstGeom>
          <a:solidFill>
            <a:srgbClr val="5E4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宋体"/>
              </a:defRPr>
            </a:pPr>
            <a:r>
              <a:t>自动择优</a:t>
            </a:r>
            <a:br/>
            <a:r>
              <a:t>(最低 sMAPE)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281160" y="1645920"/>
            <a:ext cx="274320" cy="274320"/>
          </a:xfrm>
          <a:prstGeom prst="rightArrow">
            <a:avLst/>
          </a:prstGeom>
          <a:solidFill>
            <a:srgbClr val="5E4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601200" y="1371600"/>
            <a:ext cx="1920240" cy="822960"/>
          </a:xfrm>
          <a:prstGeom prst="roundRect">
            <a:avLst/>
          </a:prstGeom>
          <a:solidFill>
            <a:srgbClr val="5E4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宋体"/>
              </a:defRPr>
            </a:pPr>
            <a:r>
              <a:t>正式预测</a:t>
            </a:r>
            <a:br/>
            <a:r>
              <a:t>(全量训练+预测)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2560320"/>
            <a:ext cx="941832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645920" y="2606040"/>
            <a:ext cx="8869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D6EFD"/>
                </a:solidFill>
                <a:latin typeface="宋体"/>
              </a:defRPr>
            </a:pPr>
            <a:r>
              <a:rPr dirty="0" err="1"/>
              <a:t>sMAPE = 1/n × Σ ( |实际 − 预测| / ((|实际| + |预测|) ÷ 2) ) × 100     范围: 0~200     最优: 接近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657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5E4B8B"/>
                </a:solidFill>
                <a:latin typeface="宋体"/>
              </a:defRPr>
            </a:pPr>
            <a:r>
              <a:t>▎算法池详解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06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C757D"/>
                </a:solidFill>
                <a:latin typeface="宋体"/>
              </a:defRPr>
            </a:pPr>
            <a:r>
              <a:t>轻量算法（快速 / 适用广）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572000"/>
            <a:ext cx="2743200" cy="457200"/>
          </a:xfrm>
          <a:prstGeom prst="round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459028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宋体"/>
              </a:defRPr>
            </a:pPr>
            <a:r>
              <a:t>Naive   朴素预测 · 上期值重复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11880" y="4572000"/>
            <a:ext cx="2743200" cy="457200"/>
          </a:xfrm>
          <a:prstGeom prst="round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703320" y="459028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宋体"/>
              </a:defRPr>
            </a:pPr>
            <a:r>
              <a:t>SMA   移动平均 · 平滑波动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4572000"/>
            <a:ext cx="2743200" cy="457200"/>
          </a:xfrm>
          <a:prstGeom prst="round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79" y="459028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宋体"/>
              </a:defRPr>
            </a:pPr>
            <a:r>
              <a:t>Median   中位数 · 抗异常值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72600" y="4572000"/>
            <a:ext cx="2743200" cy="457200"/>
          </a:xfrm>
          <a:prstGeom prst="round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64040" y="459028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宋体"/>
              </a:defRPr>
            </a:pPr>
            <a:r>
              <a:t>Croston   间歇需求专用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03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C757D"/>
                </a:solidFill>
                <a:latin typeface="宋体"/>
              </a:defRPr>
            </a:pPr>
            <a:r>
              <a:t>重型算法（高精度 / 少分组）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669280"/>
            <a:ext cx="2194560" cy="457200"/>
          </a:xfrm>
          <a:prstGeom prst="round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568756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D7E14"/>
                </a:solidFill>
                <a:latin typeface="宋体"/>
              </a:defRPr>
            </a:pPr>
            <a:r>
              <a:t>HW   指数平滑 · 趋势+季节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39" y="5669280"/>
            <a:ext cx="2194560" cy="457200"/>
          </a:xfrm>
          <a:prstGeom prst="round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154679" y="568756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D7E14"/>
                </a:solidFill>
                <a:latin typeface="宋体"/>
              </a:defRPr>
            </a:pPr>
            <a:r>
              <a:t>RF   随机森林 · 非线性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94959" y="5669280"/>
            <a:ext cx="2194560" cy="457200"/>
          </a:xfrm>
          <a:prstGeom prst="round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399" y="568756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D7E14"/>
                </a:solidFill>
                <a:latin typeface="宋体"/>
              </a:defRPr>
            </a:pPr>
            <a:r>
              <a:t>SARIMA   季节ARIMA · 统计模型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26679" y="5669280"/>
            <a:ext cx="2194560" cy="457200"/>
          </a:xfrm>
          <a:prstGeom prst="round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818119" y="568756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D7E14"/>
                </a:solidFill>
                <a:latin typeface="宋体"/>
              </a:defRPr>
            </a:pPr>
            <a:r>
              <a:t>XGBoost   梯度提升树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058400" y="5669280"/>
            <a:ext cx="2194560" cy="457200"/>
          </a:xfrm>
          <a:prstGeom prst="round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149840" y="568756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D7E14"/>
                </a:solidFill>
                <a:latin typeface="宋体"/>
              </a:defRPr>
            </a:pPr>
            <a:r>
              <a:t>LightGBM   轻量GBDT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宋体"/>
              </a:defRPr>
            </a:pPr>
            <a: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5E4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宋体"/>
              </a:defRPr>
            </a:pPr>
            <a:r>
              <a:t>性能优化：表格虚拟化重构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69848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E4B8B"/>
                </a:solidFill>
                <a:latin typeface="宋体"/>
              </a:defRPr>
            </a:pPr>
            <a:r>
              <a:t>▎QTableView（虚拟表格视图）方案详解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241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D6EFD"/>
                </a:solidFill>
                <a:latin typeface="宋体"/>
              </a:defRPr>
            </a:pPr>
            <a:r>
              <a:rPr dirty="0" err="1"/>
              <a:t>核心架构：QAbstractTableModel（抽象表格模型</a:t>
            </a:r>
            <a:r>
              <a:rPr dirty="0"/>
              <a:t>）+ </a:t>
            </a:r>
            <a:r>
              <a:rPr dirty="0" err="1"/>
              <a:t>QStyledItemDelegate（自定义委托</a:t>
            </a:r>
            <a:r>
              <a:rPr dirty="0"/>
              <a:t>）+ </a:t>
            </a:r>
            <a:r>
              <a:rPr dirty="0" err="1"/>
              <a:t>QPainter（绘图引擎</a:t>
            </a:r>
            <a:r>
              <a:rPr dirty="0"/>
              <a:t>）</a:t>
            </a:r>
          </a:p>
          <a:p>
            <a:pPr>
              <a:spcAft>
                <a:spcPts val="400"/>
              </a:spcAft>
              <a:defRPr sz="600" b="0">
                <a:solidFill>
                  <a:srgbClr val="333333"/>
                </a:solidFill>
                <a:latin typeface="宋体"/>
              </a:defRPr>
            </a:pPr>
            <a:endParaRPr dirty="0"/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宋体"/>
              </a:defRPr>
            </a:pPr>
            <a:r>
              <a:rPr dirty="0"/>
              <a:t>• </a:t>
            </a:r>
            <a:r>
              <a:rPr dirty="0" err="1"/>
              <a:t>零预创建对象：Model</a:t>
            </a:r>
            <a:r>
              <a:rPr dirty="0"/>
              <a:t> </a:t>
            </a:r>
            <a:r>
              <a:rPr dirty="0" err="1"/>
              <a:t>仅包装</a:t>
            </a:r>
            <a:r>
              <a:rPr dirty="0"/>
              <a:t> </a:t>
            </a:r>
            <a:r>
              <a:rPr dirty="0" err="1"/>
              <a:t>DataFrame（数据框</a:t>
            </a:r>
            <a:r>
              <a:rPr dirty="0"/>
              <a:t>），</a:t>
            </a:r>
            <a:r>
              <a:rPr dirty="0" err="1"/>
              <a:t>按视口需要实时返回数据，不创建任何</a:t>
            </a:r>
            <a:r>
              <a:rPr dirty="0"/>
              <a:t> UI </a:t>
            </a:r>
            <a:r>
              <a:rPr dirty="0" err="1"/>
              <a:t>控件</a:t>
            </a:r>
            <a:endParaRPr dirty="0"/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宋体"/>
              </a:defRPr>
            </a:pPr>
            <a:r>
              <a:rPr dirty="0"/>
              <a:t>• </a:t>
            </a:r>
            <a:r>
              <a:rPr dirty="0" err="1"/>
              <a:t>高效渲染：HTMLDelegate</a:t>
            </a:r>
            <a:r>
              <a:rPr dirty="0"/>
              <a:t> 用 </a:t>
            </a:r>
            <a:r>
              <a:rPr dirty="0" err="1"/>
              <a:t>QPainter</a:t>
            </a:r>
            <a:r>
              <a:rPr dirty="0"/>
              <a:t> </a:t>
            </a:r>
            <a:r>
              <a:rPr dirty="0" err="1"/>
              <a:t>直接在画布上绘制</a:t>
            </a:r>
            <a:r>
              <a:rPr dirty="0"/>
              <a:t> HTML </a:t>
            </a:r>
            <a:r>
              <a:rPr dirty="0" err="1"/>
              <a:t>三色文本，无需</a:t>
            </a:r>
            <a:r>
              <a:rPr dirty="0"/>
              <a:t> </a:t>
            </a:r>
            <a:r>
              <a:rPr dirty="0" err="1"/>
              <a:t>QLabel（标签控件）作为中间层</a:t>
            </a:r>
            <a:endParaRPr dirty="0"/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宋体"/>
              </a:defRPr>
            </a:pPr>
            <a:r>
              <a:rPr dirty="0"/>
              <a:t>• </a:t>
            </a:r>
            <a:r>
              <a:rPr dirty="0" err="1"/>
              <a:t>内存友好：从数千个</a:t>
            </a:r>
            <a:r>
              <a:rPr dirty="0"/>
              <a:t> </a:t>
            </a:r>
            <a:r>
              <a:rPr dirty="0" err="1"/>
              <a:t>QLabel</a:t>
            </a:r>
            <a:r>
              <a:rPr dirty="0"/>
              <a:t> </a:t>
            </a:r>
            <a:r>
              <a:rPr dirty="0" err="1"/>
              <a:t>对象</a:t>
            </a:r>
            <a:r>
              <a:rPr dirty="0"/>
              <a:t> → 0 </a:t>
            </a:r>
            <a:r>
              <a:rPr dirty="0" err="1"/>
              <a:t>个预创建对象，内存从</a:t>
            </a:r>
            <a:r>
              <a:rPr dirty="0"/>
              <a:t> GB </a:t>
            </a:r>
            <a:r>
              <a:rPr dirty="0" err="1"/>
              <a:t>级降至</a:t>
            </a:r>
            <a:r>
              <a:rPr dirty="0"/>
              <a:t> ~50MB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宋体"/>
              </a:defRPr>
            </a:pPr>
            <a:r>
              <a:rPr dirty="0"/>
              <a:t>• </a:t>
            </a:r>
            <a:r>
              <a:rPr dirty="0" err="1"/>
              <a:t>亚毫秒滚动：滚动时仅实时查询视口内约</a:t>
            </a:r>
            <a:r>
              <a:rPr dirty="0"/>
              <a:t> 30 </a:t>
            </a:r>
            <a:r>
              <a:rPr dirty="0" err="1"/>
              <a:t>个格子并即时绘制，任意行数不卡顿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731520" y="374903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5E4B8B"/>
                </a:solidFill>
                <a:latin typeface="宋体"/>
              </a:defRPr>
            </a:pPr>
            <a:r>
              <a:t>▎性能保护措施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97680"/>
            <a:ext cx="338328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6EFD"/>
                </a:solidFill>
                <a:latin typeface="宋体"/>
              </a:defRPr>
            </a:pPr>
            <a:r>
              <a:rPr dirty="0" err="1"/>
              <a:t>算法自动降速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914400" y="475488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宋体"/>
              </a:defRPr>
            </a:pPr>
            <a:r>
              <a:t>型号 &gt; 50 组：关闭 5 个重型算法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宋体"/>
              </a:defRPr>
            </a:pPr>
            <a:r>
              <a:t>细分类 &gt; 50 组：关闭 SARIMA</a:t>
            </a:r>
          </a:p>
          <a:p>
            <a:pPr>
              <a:spcAft>
                <a:spcPts val="400"/>
              </a:spcAft>
              <a:defRPr sz="1300" b="0">
                <a:solidFill>
                  <a:srgbClr val="6C757D"/>
                </a:solidFill>
                <a:latin typeface="宋体"/>
              </a:defRPr>
            </a:pPr>
            <a:r>
              <a:t>用户可在设置页手动开启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4297680"/>
            <a:ext cx="338328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43891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6EFD"/>
                </a:solidFill>
                <a:latin typeface="宋体"/>
              </a:defRPr>
            </a:pPr>
            <a:r>
              <a:rPr dirty="0"/>
              <a:t>UI </a:t>
            </a:r>
            <a:r>
              <a:rPr dirty="0" err="1"/>
              <a:t>上限保护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4572000" y="475488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宋体"/>
              </a:defRPr>
            </a:pPr>
            <a:r>
              <a:t>表格渲染上限 500 行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宋体"/>
              </a:defRPr>
            </a:pPr>
            <a:r>
              <a:t>预测区间上限 24 个月</a:t>
            </a:r>
          </a:p>
          <a:p>
            <a:pPr>
              <a:spcAft>
                <a:spcPts val="400"/>
              </a:spcAft>
              <a:defRPr sz="1300" b="0">
                <a:solidFill>
                  <a:srgbClr val="6C757D"/>
                </a:solidFill>
                <a:latin typeface="宋体"/>
              </a:defRPr>
            </a:pPr>
            <a:r>
              <a:t>超出弹窗提示，导出仍为全量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4297680"/>
            <a:ext cx="338328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43891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6EFD"/>
                </a:solidFill>
                <a:latin typeface="宋体"/>
              </a:defRPr>
            </a:pPr>
            <a:r>
              <a:t>并行计算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75488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宋体"/>
              </a:defRPr>
            </a:pPr>
            <a:r>
              <a:t>ThreadPoolExecutor（线程池执行器）· 8 线程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宋体"/>
              </a:defRPr>
            </a:pPr>
            <a:r>
              <a:t>小批量直接循环（避免开销）</a:t>
            </a:r>
          </a:p>
          <a:p>
            <a:pPr>
              <a:spcAft>
                <a:spcPts val="400"/>
              </a:spcAft>
              <a:defRPr sz="1300" b="0">
                <a:solidFill>
                  <a:srgbClr val="6C757D"/>
                </a:solidFill>
                <a:latin typeface="宋体"/>
              </a:defRPr>
            </a:pPr>
            <a:r>
              <a:t>取消/重试机制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宋体"/>
              </a:defRPr>
            </a:pPr>
            <a: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5E4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宋体"/>
              </a:defRPr>
            </a:pPr>
            <a:r>
              <a:t>系统功能展示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280160"/>
            <a:ext cx="21945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333333"/>
                </a:solidFill>
                <a:latin typeface="宋体"/>
              </a:defRPr>
            </a:pPr>
            <a:r>
              <a:t>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28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A2E"/>
                </a:solidFill>
                <a:latin typeface="宋体"/>
              </a:defRPr>
            </a:pPr>
            <a:r>
              <a:t>多维度预测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860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C757D"/>
                </a:solidFill>
                <a:latin typeface="宋体"/>
              </a:defRPr>
            </a:pPr>
            <a:r>
              <a:t>大类 / 品类 / 细分类</a:t>
            </a:r>
            <a:br/>
            <a:r>
              <a:t>/ 型号 / 渠道</a:t>
            </a:r>
            <a:br/>
            <a:r>
              <a:t>5 级粒度灵活切换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1760" y="1280160"/>
            <a:ext cx="21945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91839" y="13716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333333"/>
                </a:solidFill>
                <a:latin typeface="宋体"/>
              </a:defRPr>
            </a:pPr>
            <a:r>
              <a:t>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828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A2E"/>
                </a:solidFill>
                <a:latin typeface="宋体"/>
              </a:defRPr>
            </a:pPr>
            <a:r>
              <a:t>智能筛选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2860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C757D"/>
                </a:solidFill>
                <a:latin typeface="宋体"/>
              </a:defRPr>
            </a:pPr>
            <a:r>
              <a:t>渠道过滤 · 品类联动</a:t>
            </a:r>
            <a:br/>
            <a:r>
              <a:t>型号关键字搜索</a:t>
            </a:r>
            <a:br/>
            <a:r>
              <a:t>历史记录自动保存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1280160"/>
            <a:ext cx="21945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0" y="13716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333333"/>
                </a:solidFill>
                <a:latin typeface="宋体"/>
              </a:defRPr>
            </a:pPr>
            <a:r>
              <a:t>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1828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A2E"/>
                </a:solidFill>
                <a:latin typeface="宋体"/>
              </a:defRPr>
            </a:pPr>
            <a:r>
              <a:t>灵活时间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2860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C757D"/>
                </a:solidFill>
                <a:latin typeface="宋体"/>
              </a:defRPr>
            </a:pPr>
            <a:r>
              <a:t>起始/结束年月选择</a:t>
            </a:r>
            <a:br/>
            <a:r>
              <a:t>跨年月份自动解除约束</a:t>
            </a:r>
            <a:br/>
            <a:r>
              <a:t>≤ 24 个月保护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1280160"/>
            <a:ext cx="21945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19" y="13716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333333"/>
                </a:solidFill>
                <a:latin typeface="宋体"/>
              </a:defRPr>
            </a:pPr>
            <a:r>
              <a:t>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1828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A2E"/>
                </a:solidFill>
                <a:latin typeface="宋体"/>
              </a:defRPr>
            </a:pPr>
            <a:r>
              <a:t>可视化表格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22860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C757D"/>
                </a:solidFill>
                <a:latin typeface="宋体"/>
              </a:defRPr>
            </a:pPr>
            <a:r>
              <a:t>黑色=历史实际</a:t>
            </a:r>
            <a:br/>
            <a:r>
              <a:t>绿色=预测/回测值</a:t>
            </a:r>
            <a:br/>
            <a:r>
              <a:t>蓝色=各期准确率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84080" y="1280160"/>
            <a:ext cx="21945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424159" y="13716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333333"/>
                </a:solidFill>
                <a:latin typeface="宋体"/>
              </a:defRPr>
            </a:pPr>
            <a:r>
              <a:t>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19" y="1828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A2E"/>
                </a:solidFill>
                <a:latin typeface="宋体"/>
              </a:defRPr>
            </a:pPr>
            <a:r>
              <a:t>功能设置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19" y="22860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C757D"/>
                </a:solidFill>
                <a:latin typeface="宋体"/>
              </a:defRPr>
            </a:pPr>
            <a:r>
              <a:t>算法开关 · 界面元素</a:t>
            </a:r>
            <a:br/>
            <a:r>
              <a:t>数据库管理 · 导出</a:t>
            </a:r>
            <a:br/>
            <a:r>
              <a:t>18 条 FAQ（常见问题）（常见问题）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931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5E4B8B"/>
                </a:solidFill>
                <a:latin typeface="宋体"/>
              </a:defRPr>
            </a:pPr>
            <a:r>
              <a:t>▎关键指标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480560"/>
            <a:ext cx="1645920" cy="914400"/>
          </a:xfrm>
          <a:prstGeom prst="round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45262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D6EFD"/>
                </a:solidFill>
                <a:latin typeface="宋体"/>
              </a:defRPr>
            </a:pPr>
            <a:r>
              <a:t>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9377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C757D"/>
                </a:solidFill>
                <a:latin typeface="宋体"/>
              </a:defRPr>
            </a:pPr>
            <a:r>
              <a:t>算法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06039" y="4480560"/>
            <a:ext cx="1645920" cy="914400"/>
          </a:xfrm>
          <a:prstGeom prst="round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606039" y="45262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D6EFD"/>
                </a:solidFill>
                <a:latin typeface="宋体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06039" y="49377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C757D"/>
                </a:solidFill>
                <a:latin typeface="宋体"/>
              </a:defRPr>
            </a:pPr>
            <a:r>
              <a:t>预测维度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80559" y="4480560"/>
            <a:ext cx="1645920" cy="914400"/>
          </a:xfrm>
          <a:prstGeom prst="round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480559" y="45262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D6EFD"/>
                </a:solidFill>
                <a:latin typeface="宋体"/>
              </a:defRPr>
            </a:pPr>
            <a:r>
              <a:t>21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59" y="49377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C757D"/>
                </a:solidFill>
                <a:latin typeface="宋体"/>
              </a:defRPr>
            </a:pPr>
            <a:r>
              <a:t>类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55079" y="4480560"/>
            <a:ext cx="1645920" cy="914400"/>
          </a:xfrm>
          <a:prstGeom prst="round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55079" y="45262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D6EFD"/>
                </a:solidFill>
                <a:latin typeface="宋体"/>
              </a:defRPr>
            </a:pPr>
            <a:r>
              <a:t>125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79" y="49377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C757D"/>
                </a:solidFill>
                <a:latin typeface="宋体"/>
              </a:defRPr>
            </a:pPr>
            <a:r>
              <a:t>方法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0" y="4480560"/>
            <a:ext cx="1645920" cy="914400"/>
          </a:xfrm>
          <a:prstGeom prst="round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29600" y="45262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D6EFD"/>
                </a:solidFill>
                <a:latin typeface="宋体"/>
              </a:defRPr>
            </a:pPr>
            <a:r>
              <a:t>3,469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49377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C757D"/>
                </a:solidFill>
                <a:latin typeface="宋体"/>
              </a:defRPr>
            </a:pPr>
            <a:r>
              <a:t>行代码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104120" y="4480560"/>
            <a:ext cx="1645920" cy="914400"/>
          </a:xfrm>
          <a:prstGeom prst="round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104120" y="45262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D6EFD"/>
                </a:solidFill>
                <a:latin typeface="宋体"/>
              </a:defRPr>
            </a:pPr>
            <a:r>
              <a:t>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04120" y="49377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C757D"/>
                </a:solidFill>
                <a:latin typeface="宋体"/>
              </a:defRPr>
            </a:pPr>
            <a:r>
              <a:t>条FAQ（常见问题）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宋体"/>
              </a:defRPr>
            </a:pPr>
            <a: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5E4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宋体"/>
              </a:defRPr>
            </a:pPr>
            <a:r>
              <a:t>预测逻辑与数据展示详解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69848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E4B8B"/>
                </a:solidFill>
                <a:latin typeface="宋体"/>
              </a:defRPr>
            </a:pPr>
            <a:r>
              <a:t>▎训练与预测逻辑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241280" cy="2908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6C757D"/>
                </a:solidFill>
                <a:latin typeface="宋体"/>
              </a:defRPr>
            </a:pPr>
            <a:r>
              <a:rPr sz="1100" dirty="0" err="1"/>
              <a:t>假设场景：DB（数据库）有</a:t>
            </a:r>
            <a:r>
              <a:rPr sz="1100" dirty="0"/>
              <a:t> 201801~202605 的销售数据，用户选择预测区间：202507~202607</a:t>
            </a:r>
          </a:p>
          <a:p>
            <a:pPr>
              <a:spcAft>
                <a:spcPts val="400"/>
              </a:spcAft>
              <a:defRPr sz="1400" b="1">
                <a:solidFill>
                  <a:srgbClr val="333333"/>
                </a:solidFill>
                <a:latin typeface="宋体"/>
              </a:defRPr>
            </a:pPr>
            <a:r>
              <a:rPr sz="1100" dirty="0"/>
              <a:t>❶ </a:t>
            </a:r>
            <a:r>
              <a:rPr sz="1100" dirty="0" err="1"/>
              <a:t>训练数据划定（防数据泄漏</a:t>
            </a:r>
            <a:r>
              <a:rPr sz="1100" dirty="0"/>
              <a:t>）</a:t>
            </a:r>
          </a:p>
          <a:p>
            <a:pPr>
              <a:spcAft>
                <a:spcPts val="400"/>
              </a:spcAft>
              <a:defRPr sz="1300" b="0">
                <a:solidFill>
                  <a:srgbClr val="0D6EFD"/>
                </a:solidFill>
                <a:latin typeface="宋体"/>
              </a:defRPr>
            </a:pPr>
            <a:r>
              <a:rPr sz="1100" dirty="0"/>
              <a:t>   训练范围：201801 ~ 202506（即预测起始月前 1 </a:t>
            </a:r>
            <a:r>
              <a:rPr sz="1100" dirty="0" err="1"/>
              <a:t>个月截止</a:t>
            </a:r>
            <a:r>
              <a:rPr sz="1100" dirty="0"/>
              <a:t>）</a:t>
            </a:r>
          </a:p>
          <a:p>
            <a:pPr>
              <a:spcAft>
                <a:spcPts val="400"/>
              </a:spcAft>
              <a:defRPr sz="1200" b="0">
                <a:solidFill>
                  <a:srgbClr val="6C757D"/>
                </a:solidFill>
                <a:latin typeface="宋体"/>
              </a:defRPr>
            </a:pPr>
            <a:r>
              <a:rPr sz="1100" dirty="0"/>
              <a:t>   </a:t>
            </a:r>
            <a:r>
              <a:rPr sz="1100" dirty="0" err="1"/>
              <a:t>核心原则：只用「已知的过去」训练模型来推断「尚不可知的未来</a:t>
            </a:r>
            <a:r>
              <a:rPr sz="1100" dirty="0"/>
              <a:t>」，</a:t>
            </a:r>
            <a:r>
              <a:rPr sz="1100" dirty="0" err="1"/>
              <a:t>严格杜绝用未来数据反推</a:t>
            </a:r>
            <a:endParaRPr sz="1100" dirty="0"/>
          </a:p>
          <a:p>
            <a:pPr>
              <a:spcAft>
                <a:spcPts val="400"/>
              </a:spcAft>
              <a:defRPr sz="1400" b="1">
                <a:solidFill>
                  <a:srgbClr val="333333"/>
                </a:solidFill>
                <a:latin typeface="宋体"/>
              </a:defRPr>
            </a:pPr>
            <a:r>
              <a:rPr sz="1100" dirty="0"/>
              <a:t>❷ </a:t>
            </a:r>
            <a:r>
              <a:rPr sz="1100" dirty="0" err="1"/>
              <a:t>算法竞争择优（回溯验证</a:t>
            </a:r>
            <a:r>
              <a:rPr sz="1100" dirty="0"/>
              <a:t>）</a:t>
            </a:r>
          </a:p>
          <a:p>
            <a:pPr>
              <a:spcAft>
                <a:spcPts val="400"/>
              </a:spcAft>
              <a:defRPr sz="1300" b="0">
                <a:solidFill>
                  <a:srgbClr val="0D6EFD"/>
                </a:solidFill>
                <a:latin typeface="宋体"/>
              </a:defRPr>
            </a:pPr>
            <a:r>
              <a:rPr sz="1100" dirty="0"/>
              <a:t>   </a:t>
            </a:r>
            <a:r>
              <a:rPr sz="1100" dirty="0" err="1"/>
              <a:t>训练集内保留末尾</a:t>
            </a:r>
            <a:r>
              <a:rPr sz="1100" dirty="0"/>
              <a:t> 2~4 </a:t>
            </a:r>
            <a:r>
              <a:rPr sz="1100" dirty="0" err="1"/>
              <a:t>期作验证集，所有启用算法各跑一次</a:t>
            </a:r>
            <a:r>
              <a:rPr sz="1100" dirty="0"/>
              <a:t> 1-step </a:t>
            </a:r>
            <a:r>
              <a:rPr sz="1100" dirty="0" err="1"/>
              <a:t>回测</a:t>
            </a:r>
            <a:endParaRPr sz="1100" dirty="0"/>
          </a:p>
          <a:p>
            <a:pPr>
              <a:spcAft>
                <a:spcPts val="400"/>
              </a:spcAft>
              <a:defRPr sz="1200" b="0">
                <a:solidFill>
                  <a:srgbClr val="6C757D"/>
                </a:solidFill>
                <a:latin typeface="宋体"/>
              </a:defRPr>
            </a:pPr>
            <a:r>
              <a:rPr sz="1100" dirty="0"/>
              <a:t>   用 </a:t>
            </a:r>
            <a:r>
              <a:rPr sz="1100" dirty="0" err="1"/>
              <a:t>sMAPE（对称平均绝对百分比误差）评估各算法表现，自动选出最低</a:t>
            </a:r>
            <a:r>
              <a:rPr sz="1100" dirty="0"/>
              <a:t> </a:t>
            </a:r>
            <a:r>
              <a:rPr sz="1100" dirty="0" err="1"/>
              <a:t>sMAPE</a:t>
            </a:r>
            <a:r>
              <a:rPr sz="1100" dirty="0"/>
              <a:t> </a:t>
            </a:r>
            <a:r>
              <a:rPr sz="1100" dirty="0" err="1"/>
              <a:t>的算法用于最终预测</a:t>
            </a:r>
            <a:endParaRPr sz="1100" dirty="0"/>
          </a:p>
          <a:p>
            <a:pPr>
              <a:spcAft>
                <a:spcPts val="400"/>
              </a:spcAft>
              <a:defRPr sz="1400" b="1">
                <a:solidFill>
                  <a:srgbClr val="333333"/>
                </a:solidFill>
                <a:latin typeface="宋体"/>
              </a:defRPr>
            </a:pPr>
            <a:r>
              <a:rPr sz="1100" dirty="0"/>
              <a:t>❸ </a:t>
            </a:r>
            <a:r>
              <a:rPr sz="1100" dirty="0" err="1"/>
              <a:t>正式预测与数据展示</a:t>
            </a:r>
            <a:endParaRPr sz="1100" dirty="0"/>
          </a:p>
          <a:p>
            <a:pPr>
              <a:spcAft>
                <a:spcPts val="400"/>
              </a:spcAft>
              <a:defRPr sz="1300" b="0">
                <a:solidFill>
                  <a:srgbClr val="0D6EFD"/>
                </a:solidFill>
                <a:latin typeface="宋体"/>
              </a:defRPr>
            </a:pPr>
            <a:r>
              <a:rPr sz="1100" dirty="0"/>
              <a:t>   </a:t>
            </a:r>
            <a:r>
              <a:rPr sz="1100" dirty="0" err="1"/>
              <a:t>用最优算法</a:t>
            </a:r>
            <a:r>
              <a:rPr sz="1100" dirty="0"/>
              <a:t> + </a:t>
            </a:r>
            <a:r>
              <a:rPr sz="1100" dirty="0" err="1"/>
              <a:t>全部训练数据拟合，做</a:t>
            </a:r>
            <a:r>
              <a:rPr sz="1100" dirty="0"/>
              <a:t> 13 步多步预测，目标期：202507~202607</a:t>
            </a:r>
          </a:p>
          <a:p>
            <a:pPr>
              <a:spcAft>
                <a:spcPts val="400"/>
              </a:spcAft>
              <a:defRPr sz="1200" b="0">
                <a:solidFill>
                  <a:srgbClr val="6C757D"/>
                </a:solidFill>
                <a:latin typeface="宋体"/>
              </a:defRPr>
            </a:pPr>
            <a:r>
              <a:rPr sz="1100" dirty="0"/>
              <a:t>   </a:t>
            </a:r>
            <a:r>
              <a:rPr sz="1100" dirty="0" err="1"/>
              <a:t>列展示顺序：纯未来月份</a:t>
            </a:r>
            <a:r>
              <a:rPr sz="1100" dirty="0"/>
              <a:t> → </a:t>
            </a:r>
            <a:r>
              <a:rPr sz="1100" dirty="0" err="1"/>
              <a:t>可回测月份（黑色历史值</a:t>
            </a:r>
            <a:r>
              <a:rPr sz="1100" dirty="0"/>
              <a:t> / </a:t>
            </a:r>
            <a:r>
              <a:rPr sz="1100" dirty="0" err="1"/>
              <a:t>绿色预测值</a:t>
            </a:r>
            <a:r>
              <a:rPr sz="1100" dirty="0"/>
              <a:t> / </a:t>
            </a:r>
            <a:r>
              <a:rPr sz="1100" dirty="0" err="1"/>
              <a:t>蓝色准确率</a:t>
            </a:r>
            <a:r>
              <a:rPr sz="1100" dirty="0"/>
              <a:t>）</a:t>
            </a:r>
          </a:p>
          <a:p>
            <a:pPr>
              <a:spcAft>
                <a:spcPts val="400"/>
              </a:spcAft>
              <a:defRPr sz="1400" b="1">
                <a:solidFill>
                  <a:srgbClr val="333333"/>
                </a:solidFill>
                <a:latin typeface="宋体"/>
              </a:defRPr>
            </a:pPr>
            <a:r>
              <a:rPr sz="1100" dirty="0"/>
              <a:t>❹ </a:t>
            </a:r>
            <a:r>
              <a:rPr sz="1100" dirty="0" err="1"/>
              <a:t>三种数值状态</a:t>
            </a:r>
            <a:endParaRPr sz="1100" dirty="0"/>
          </a:p>
          <a:p>
            <a:pPr>
              <a:spcAft>
                <a:spcPts val="400"/>
              </a:spcAft>
              <a:defRPr sz="1300" b="0">
                <a:solidFill>
                  <a:srgbClr val="0D6EFD"/>
                </a:solidFill>
                <a:latin typeface="宋体"/>
              </a:defRPr>
            </a:pPr>
            <a:r>
              <a:rPr sz="1100" dirty="0"/>
              <a:t>   </a:t>
            </a:r>
            <a:r>
              <a:rPr sz="1100" dirty="0" err="1"/>
              <a:t>纯未来（DB无记录</a:t>
            </a:r>
            <a:r>
              <a:rPr sz="1100" dirty="0"/>
              <a:t>）：</a:t>
            </a:r>
            <a:r>
              <a:rPr sz="1100" dirty="0" err="1"/>
              <a:t>仅显示绿色预测值</a:t>
            </a:r>
            <a:r>
              <a:rPr sz="1100" dirty="0"/>
              <a:t>  |  </a:t>
            </a:r>
            <a:r>
              <a:rPr sz="1100" dirty="0" err="1"/>
              <a:t>回测对比（DB有记录</a:t>
            </a:r>
            <a:r>
              <a:rPr sz="1100" dirty="0"/>
              <a:t>）：</a:t>
            </a:r>
            <a:r>
              <a:rPr sz="1100" dirty="0" err="1"/>
              <a:t>黑色历史</a:t>
            </a:r>
            <a:r>
              <a:rPr sz="1100" dirty="0"/>
              <a:t> / </a:t>
            </a:r>
            <a:r>
              <a:rPr sz="1100" dirty="0" err="1"/>
              <a:t>绿色回测</a:t>
            </a:r>
            <a:r>
              <a:rPr sz="1100" dirty="0"/>
              <a:t> / </a:t>
            </a:r>
            <a:r>
              <a:rPr sz="1100" dirty="0" err="1"/>
              <a:t>蓝色准确率</a:t>
            </a:r>
            <a:endParaRPr sz="1100" dirty="0"/>
          </a:p>
          <a:p>
            <a:pPr>
              <a:spcAft>
                <a:spcPts val="400"/>
              </a:spcAft>
              <a:defRPr sz="1200" b="0">
                <a:solidFill>
                  <a:srgbClr val="6C757D"/>
                </a:solidFill>
                <a:latin typeface="宋体"/>
              </a:defRPr>
            </a:pPr>
            <a:r>
              <a:rPr sz="1100" dirty="0"/>
              <a:t>   </a:t>
            </a:r>
            <a:r>
              <a:rPr sz="1100" dirty="0" err="1"/>
              <a:t>纯历史（超出预测范围</a:t>
            </a:r>
            <a:r>
              <a:rPr sz="1100" dirty="0"/>
              <a:t>）：</a:t>
            </a:r>
            <a:r>
              <a:rPr sz="1100" dirty="0" err="1"/>
              <a:t>仅显示黑色历史实际值，无预测信息</a:t>
            </a:r>
            <a:endParaRPr sz="1100" dirty="0"/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1069848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4846320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5E4B8B"/>
                </a:solidFill>
                <a:latin typeface="宋体"/>
              </a:defRPr>
            </a:pPr>
            <a:r>
              <a:t>▎设计原则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212080"/>
            <a:ext cx="10241280" cy="656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宋体"/>
              </a:defRPr>
            </a:pPr>
            <a:r>
              <a:rPr sz="1000" dirty="0"/>
              <a:t>• </a:t>
            </a:r>
            <a:r>
              <a:rPr sz="1000" dirty="0" err="1"/>
              <a:t>训练数据截止规则：只用「预测起点之前」的数据训练，杜绝数据泄漏</a:t>
            </a:r>
            <a:endParaRPr sz="1000" dirty="0"/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宋体"/>
              </a:defRPr>
            </a:pPr>
            <a:r>
              <a:rPr sz="1000" dirty="0"/>
              <a:t>• </a:t>
            </a:r>
            <a:r>
              <a:rPr sz="1000" dirty="0" err="1"/>
              <a:t>展示顺序：未来在前、历史在后，用户一眼看到预测重点</a:t>
            </a:r>
            <a:endParaRPr sz="1000" dirty="0"/>
          </a:p>
          <a:p>
            <a:pPr>
              <a:spcAft>
                <a:spcPts val="400"/>
              </a:spcAft>
              <a:defRPr sz="1300" b="0">
                <a:solidFill>
                  <a:srgbClr val="6C757D"/>
                </a:solidFill>
                <a:latin typeface="宋体"/>
              </a:defRPr>
            </a:pPr>
            <a:r>
              <a:rPr sz="1000" dirty="0"/>
              <a:t>• </a:t>
            </a:r>
            <a:r>
              <a:rPr sz="1000" dirty="0" err="1"/>
              <a:t>准确率按期计算：每个时期独立评估，不依赖全局指标</a:t>
            </a:r>
            <a:endParaRPr sz="1000" dirty="0"/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宋体"/>
              </a:defRPr>
            </a:pPr>
            <a: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5E4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宋体"/>
              </a:defRPr>
            </a:pPr>
            <a:r>
              <a:t>技术栈与开发细节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828800" cy="640080"/>
          </a:xfrm>
          <a:prstGeom prst="roundRect">
            <a:avLst/>
          </a:prstGeom>
          <a:solidFill>
            <a:srgbClr val="5E4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宋体"/>
              </a:defRPr>
            </a:pPr>
            <a:r>
              <a:t>核心语言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51760" y="1188720"/>
            <a:ext cx="45720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834640" y="1298448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宋体"/>
              </a:defRPr>
            </a:pPr>
            <a:r>
              <a:t>Python 3.9 / 3.13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188720"/>
            <a:ext cx="4114800" cy="640080"/>
          </a:xfrm>
          <a:prstGeom prst="round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79" y="1298448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宋体"/>
              </a:defRPr>
            </a:pPr>
            <a:r>
              <a:t>Windows + macOS 跨平台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65960"/>
            <a:ext cx="1828800" cy="640080"/>
          </a:xfrm>
          <a:prstGeom prst="roundRect">
            <a:avLst/>
          </a:prstGeom>
          <a:solidFill>
            <a:srgbClr val="5E4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宋体"/>
              </a:defRPr>
            </a:pPr>
            <a:r>
              <a:t>GUI 框架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1965960"/>
            <a:ext cx="45720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34640" y="2075688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宋体"/>
              </a:defRPr>
            </a:pPr>
            <a:r>
              <a:t>PySide6（Qt for Python）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1965960"/>
            <a:ext cx="4114800" cy="640080"/>
          </a:xfrm>
          <a:prstGeom prst="round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79" y="2075688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宋体"/>
              </a:defRPr>
            </a:pPr>
            <a:r>
              <a:t>QTableView（虚拟表格视图）· HTML（富文本）委托 · 信号槽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743200"/>
            <a:ext cx="1828800" cy="640080"/>
          </a:xfrm>
          <a:prstGeom prst="roundRect">
            <a:avLst/>
          </a:prstGeom>
          <a:solidFill>
            <a:srgbClr val="5E4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宋体"/>
              </a:defRPr>
            </a:pPr>
            <a:r>
              <a:t>数据处理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2743200"/>
            <a:ext cx="45720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834640" y="2852928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宋体"/>
              </a:defRPr>
            </a:pPr>
            <a:r>
              <a:t>Pandas（数据分析）/ NumPy（数值计算）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2743200"/>
            <a:ext cx="4114800" cy="640080"/>
          </a:xfrm>
          <a:prstGeom prst="round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79" y="2852928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宋体"/>
              </a:defRPr>
            </a:pPr>
            <a:r>
              <a:t>DataFrame（数据框）聚合 · 透视表 · 向量化运算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520440"/>
            <a:ext cx="1828800" cy="640080"/>
          </a:xfrm>
          <a:prstGeom prst="roundRect">
            <a:avLst/>
          </a:prstGeom>
          <a:solidFill>
            <a:srgbClr val="5E4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宋体"/>
              </a:defRPr>
            </a:pPr>
            <a:r>
              <a:t>数据库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51760" y="3520440"/>
            <a:ext cx="45720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834640" y="3630168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宋体"/>
              </a:defRPr>
            </a:pPr>
            <a:r>
              <a:t>SQLite（轻量级数据库）· 只读连接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3520440"/>
            <a:ext cx="4114800" cy="640080"/>
          </a:xfrm>
          <a:prstGeom prst="round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98079" y="3630168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宋体"/>
              </a:defRPr>
            </a:pPr>
            <a:r>
              <a:t>uri=True · readonly 模式 · 零写入风险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297680"/>
            <a:ext cx="1828800" cy="640080"/>
          </a:xfrm>
          <a:prstGeom prst="roundRect">
            <a:avLst/>
          </a:prstGeom>
          <a:solidFill>
            <a:srgbClr val="5E4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宋体"/>
              </a:defRPr>
            </a:pPr>
            <a:r>
              <a:t>ML 算法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51760" y="4297680"/>
            <a:ext cx="45720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834640" y="4407408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宋体"/>
              </a:defRPr>
            </a:pPr>
            <a:r>
              <a:t>statsmodels · sklearn</a:t>
            </a:r>
            <a:br/>
            <a:r>
              <a:t>XGBoost · LightGBM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0" y="4297680"/>
            <a:ext cx="4114800" cy="640080"/>
          </a:xfrm>
          <a:prstGeom prst="round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98079" y="4407408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宋体"/>
              </a:defRPr>
            </a:pPr>
            <a:r>
              <a:t>SARIMA（季节ARIMA）· RF（随机森林）· HW（指数平滑）· 梯度提升树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074920"/>
            <a:ext cx="1828800" cy="640080"/>
          </a:xfrm>
          <a:prstGeom prst="roundRect">
            <a:avLst/>
          </a:prstGeom>
          <a:solidFill>
            <a:srgbClr val="5E4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宋体"/>
              </a:defRPr>
            </a:pPr>
            <a:r>
              <a:t>并行计算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651760" y="5074920"/>
            <a:ext cx="45720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834640" y="5184648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宋体"/>
              </a:defRPr>
            </a:pPr>
            <a:r>
              <a:t>ThreadPoolExecutor</a:t>
            </a:r>
            <a:br/>
            <a:r>
              <a:t>QThread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0" y="5074920"/>
            <a:ext cx="4114800" cy="640080"/>
          </a:xfrm>
          <a:prstGeom prst="round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498079" y="5184648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宋体"/>
              </a:defRPr>
            </a:pPr>
            <a:r>
              <a:t>8 线程并行预测 · 进度信号通知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宋体"/>
              </a:defRPr>
            </a:pPr>
            <a: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5E4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宋体"/>
              </a:defRPr>
            </a:pPr>
            <a:r>
              <a:t>创新点与技术亮点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457200" cy="457200"/>
          </a:xfrm>
          <a:prstGeom prst="round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宋体"/>
              </a:defRPr>
            </a:pPr>
            <a:r>
              <a:t>🔄 多算法竞争择优机制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00200"/>
            <a:ext cx="10058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宋体"/>
              </a:defRPr>
            </a:pPr>
            <a:r>
              <a:rPr lang="zh-CN" altLang="en-US" dirty="0"/>
              <a:t>使用</a:t>
            </a:r>
            <a:r>
              <a:rPr dirty="0"/>
              <a:t>「</a:t>
            </a:r>
            <a:r>
              <a:rPr dirty="0" err="1"/>
              <a:t>回溯验证</a:t>
            </a:r>
            <a:r>
              <a:rPr dirty="0"/>
              <a:t> + </a:t>
            </a:r>
            <a:r>
              <a:rPr dirty="0" err="1"/>
              <a:t>sMAPE</a:t>
            </a:r>
            <a:r>
              <a:rPr dirty="0"/>
              <a:t> </a:t>
            </a:r>
            <a:r>
              <a:rPr dirty="0" err="1"/>
              <a:t>竞争</a:t>
            </a:r>
            <a:r>
              <a:rPr dirty="0"/>
              <a:t>」：</a:t>
            </a:r>
            <a:r>
              <a:rPr dirty="0" err="1"/>
              <a:t>每组分组的训练数据在</a:t>
            </a:r>
            <a:r>
              <a:rPr dirty="0"/>
              <a:t> 9 </a:t>
            </a:r>
            <a:r>
              <a:rPr dirty="0" err="1"/>
              <a:t>种算法上各跑回溯验证，自动选出历史上表现最好的算法用于最终预测。避免单一模型的局限，且整个过程全自动</a:t>
            </a:r>
            <a:r>
              <a:rPr dirty="0"/>
              <a:t>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14600"/>
            <a:ext cx="457200" cy="457200"/>
          </a:xfrm>
          <a:prstGeom prst="round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2514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宋体"/>
              </a:defRPr>
            </a:pPr>
            <a:r>
              <a:t>📊 虚拟化表格渲染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9260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宋体"/>
              </a:defRPr>
            </a:pPr>
            <a:r>
              <a:t>QAbstractTableModel + QStyledItemDelegate 替代传统 QTableWidget（传统表格部件）+ QLabel（标签控件）。从 38,000 个控件降至 0 个对象，内存从 GB 降至 50MB，滚动延迟从秒级降至 &lt; 1ms。同时保留了 HTML（富文本）三色数值渲染，视觉质量不降级。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457200" cy="457200"/>
          </a:xfrm>
          <a:prstGeom prst="round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71600" y="3840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宋体"/>
              </a:defRPr>
            </a:pPr>
            <a:r>
              <a:t>🧠 训练截止与数据泄漏防护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2519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宋体"/>
              </a:defRPr>
            </a:pPr>
            <a:r>
              <a:t>严格以「预测起始月 − 1」为训练截止点，确保模型只用历史数据预测未来。目标期内 DB 已有的月份做逐期 1-step 回测，纯未来月份做多步预测。这种混合预测+回测的展示方式在同类工具中少见。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166360"/>
            <a:ext cx="457200" cy="457200"/>
          </a:xfrm>
          <a:prstGeom prst="roundRect">
            <a:avLst/>
          </a:prstGeom>
          <a:solidFill>
            <a:srgbClr val="5E4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71600" y="5166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宋体"/>
              </a:defRPr>
            </a:pPr>
            <a:r>
              <a:t>⚡ 自适应性能保护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577840"/>
            <a:ext cx="10058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宋体"/>
              </a:defRPr>
            </a:pPr>
            <a:r>
              <a:rPr dirty="0" err="1"/>
              <a:t>根据维度分组数自动调节算法池</a:t>
            </a:r>
            <a:r>
              <a:rPr dirty="0"/>
              <a:t>：&gt; 50 </a:t>
            </a:r>
            <a:r>
              <a:rPr dirty="0" err="1"/>
              <a:t>组关闭重型算法（SARIMA</a:t>
            </a:r>
            <a:r>
              <a:rPr dirty="0"/>
              <a:t>/</a:t>
            </a:r>
            <a:r>
              <a:rPr dirty="0" err="1"/>
              <a:t>XGBoost</a:t>
            </a:r>
            <a:r>
              <a:rPr dirty="0"/>
              <a:t> 等），从 15 </a:t>
            </a:r>
            <a:r>
              <a:rPr dirty="0" err="1"/>
              <a:t>分钟降至</a:t>
            </a:r>
            <a:r>
              <a:rPr dirty="0"/>
              <a:t> 5 </a:t>
            </a:r>
            <a:r>
              <a:rPr dirty="0" err="1"/>
              <a:t>秒。用户可在设置中按需手动开启，灵活平衡</a:t>
            </a:r>
            <a:r>
              <a:rPr lang="zh-CN" altLang="en-US" dirty="0"/>
              <a:t>预测</a:t>
            </a:r>
            <a:r>
              <a:rPr dirty="0" err="1"/>
              <a:t>速度</a:t>
            </a:r>
            <a:r>
              <a:rPr lang="zh-CN" altLang="en-US" dirty="0"/>
              <a:t>和</a:t>
            </a:r>
            <a:r>
              <a:rPr dirty="0" err="1"/>
              <a:t>精度</a:t>
            </a:r>
            <a:r>
              <a:rPr dirty="0"/>
              <a:t>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宋体"/>
              </a:defRPr>
            </a:pPr>
            <a: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5E4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宋体"/>
              </a:defRPr>
            </a:pPr>
            <a:r>
              <a:t>数据质量与预测局限性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30352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5E4B8B"/>
                </a:solidFill>
                <a:latin typeface="宋体"/>
              </a:defRPr>
            </a:pPr>
            <a:r>
              <a:t>▎缺失数据处理策略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846320" cy="2195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D6EFD"/>
                </a:solidFill>
                <a:latin typeface="宋体"/>
              </a:defRPr>
            </a:pPr>
            <a:r>
              <a:rPr sz="1000" dirty="0" err="1"/>
              <a:t>前向填充（Forward</a:t>
            </a:r>
            <a:r>
              <a:rPr sz="1000" dirty="0"/>
              <a:t> Fill）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宋体"/>
              </a:defRPr>
            </a:pPr>
            <a:r>
              <a:rPr sz="1000" dirty="0" err="1"/>
              <a:t>缺失月份自动用最近一个有效值填充，保持序列连续性</a:t>
            </a:r>
            <a:endParaRPr sz="1000" dirty="0"/>
          </a:p>
          <a:p>
            <a:pPr>
              <a:spcAft>
                <a:spcPts val="400"/>
              </a:spcAft>
              <a:defRPr sz="1300" b="1">
                <a:solidFill>
                  <a:srgbClr val="0D6EFD"/>
                </a:solidFill>
                <a:latin typeface="宋体"/>
              </a:defRPr>
            </a:pPr>
            <a:r>
              <a:rPr sz="1000" dirty="0" err="1"/>
              <a:t>最少数据量门槛</a:t>
            </a:r>
            <a:endParaRPr sz="1000" dirty="0"/>
          </a:p>
          <a:p>
            <a:pPr>
              <a:spcAft>
                <a:spcPts val="400"/>
              </a:spcAft>
              <a:defRPr sz="1100" b="0">
                <a:solidFill>
                  <a:srgbClr val="6C757D"/>
                </a:solidFill>
                <a:latin typeface="宋体"/>
              </a:defRPr>
            </a:pPr>
            <a:r>
              <a:rPr sz="1000" dirty="0" err="1"/>
              <a:t>SARIMA（季节ARIMA</a:t>
            </a:r>
            <a:r>
              <a:rPr sz="1000" dirty="0"/>
              <a:t>）：≥ 12 </a:t>
            </a:r>
            <a:r>
              <a:rPr sz="1000" dirty="0" err="1"/>
              <a:t>个月</a:t>
            </a:r>
            <a:r>
              <a:rPr sz="1000" dirty="0"/>
              <a:t> · </a:t>
            </a:r>
            <a:r>
              <a:rPr sz="1000" dirty="0" err="1"/>
              <a:t>XGBoost</a:t>
            </a:r>
            <a:r>
              <a:rPr sz="1000" dirty="0"/>
              <a:t>/</a:t>
            </a:r>
            <a:r>
              <a:rPr sz="1000" dirty="0" err="1"/>
              <a:t>LightGBM</a:t>
            </a:r>
            <a:r>
              <a:rPr sz="1000" dirty="0"/>
              <a:t>：≥ 8 </a:t>
            </a:r>
            <a:r>
              <a:rPr sz="1000" dirty="0" err="1"/>
              <a:t>个月</a:t>
            </a:r>
            <a:endParaRPr sz="1000" dirty="0"/>
          </a:p>
          <a:p>
            <a:pPr>
              <a:spcAft>
                <a:spcPts val="400"/>
              </a:spcAft>
              <a:defRPr sz="1100" b="0">
                <a:solidFill>
                  <a:srgbClr val="6C757D"/>
                </a:solidFill>
                <a:latin typeface="宋体"/>
              </a:defRPr>
            </a:pPr>
            <a:r>
              <a:rPr sz="1000" dirty="0"/>
              <a:t>HW/RF/Croston：≥ 4 </a:t>
            </a:r>
            <a:r>
              <a:rPr sz="1000" dirty="0" err="1"/>
              <a:t>个月</a:t>
            </a:r>
            <a:r>
              <a:rPr sz="1000" dirty="0"/>
              <a:t> · Naive/SMA/Median：≥ 2 </a:t>
            </a:r>
            <a:r>
              <a:rPr sz="1000" dirty="0" err="1"/>
              <a:t>个月</a:t>
            </a:r>
            <a:endParaRPr sz="1000" dirty="0"/>
          </a:p>
          <a:p>
            <a:pPr>
              <a:spcAft>
                <a:spcPts val="400"/>
              </a:spcAft>
              <a:defRPr sz="1300" b="1">
                <a:solidFill>
                  <a:srgbClr val="0D6EFD"/>
                </a:solidFill>
                <a:latin typeface="宋体"/>
              </a:defRPr>
            </a:pPr>
            <a:r>
              <a:rPr sz="1000" dirty="0" err="1"/>
              <a:t>自动降级机制</a:t>
            </a:r>
            <a:endParaRPr sz="1000" dirty="0"/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宋体"/>
              </a:defRPr>
            </a:pPr>
            <a:r>
              <a:rPr sz="1000" dirty="0" err="1"/>
              <a:t>数据量不足时算法自动回落为</a:t>
            </a:r>
            <a:r>
              <a:rPr sz="1000" dirty="0"/>
              <a:t> </a:t>
            </a:r>
            <a:r>
              <a:rPr sz="1000" dirty="0" err="1"/>
              <a:t>Naive（朴素预测</a:t>
            </a:r>
            <a:r>
              <a:rPr sz="1000" dirty="0"/>
              <a:t>），</a:t>
            </a:r>
            <a:r>
              <a:rPr sz="1000" dirty="0" err="1"/>
              <a:t>确保不会因数据不足而崩溃或输出无意义结果</a:t>
            </a:r>
            <a:endParaRPr sz="1000" dirty="0"/>
          </a:p>
          <a:p>
            <a:pPr>
              <a:spcAft>
                <a:spcPts val="400"/>
              </a:spcAft>
              <a:defRPr sz="1300" b="1">
                <a:solidFill>
                  <a:srgbClr val="0D6EFD"/>
                </a:solidFill>
                <a:latin typeface="宋体"/>
              </a:defRPr>
            </a:pPr>
            <a:r>
              <a:rPr sz="1000" dirty="0" err="1"/>
              <a:t>零值与间歇需求</a:t>
            </a:r>
            <a:endParaRPr sz="1000" dirty="0"/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宋体"/>
              </a:defRPr>
            </a:pPr>
            <a:r>
              <a:rPr sz="1000" dirty="0" err="1"/>
              <a:t>Croston（间歇需求预测）算法专门处理「大量</a:t>
            </a:r>
            <a:r>
              <a:rPr sz="1000" dirty="0"/>
              <a:t> 0 + </a:t>
            </a:r>
            <a:r>
              <a:rPr sz="1000" dirty="0" err="1"/>
              <a:t>偶发非零」的序列模式，是传统方法的有效补充</a:t>
            </a:r>
            <a:endParaRPr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6492240" y="1188720"/>
            <a:ext cx="502920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6656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D7E14"/>
                </a:solidFill>
                <a:latin typeface="宋体"/>
              </a:defRPr>
            </a:pPr>
            <a:r>
              <a:t>▎预测质量不佳的常见原因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1737360"/>
            <a:ext cx="4572000" cy="2318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333333"/>
                </a:solidFill>
                <a:latin typeface="宋体"/>
              </a:defRPr>
            </a:pPr>
            <a:r>
              <a:rPr sz="900" dirty="0"/>
              <a:t>① </a:t>
            </a:r>
            <a:r>
              <a:rPr sz="900" dirty="0" err="1"/>
              <a:t>间歇性需求（最难处理</a:t>
            </a:r>
            <a:r>
              <a:rPr sz="900" dirty="0"/>
              <a:t>）</a:t>
            </a:r>
          </a:p>
          <a:p>
            <a:pPr>
              <a:spcAft>
                <a:spcPts val="400"/>
              </a:spcAft>
              <a:defRPr sz="1100" b="0">
                <a:solidFill>
                  <a:srgbClr val="6C757D"/>
                </a:solidFill>
                <a:latin typeface="宋体"/>
              </a:defRPr>
            </a:pPr>
            <a:r>
              <a:rPr sz="900" dirty="0" err="1"/>
              <a:t>序列中大量月份销量为</a:t>
            </a:r>
            <a:r>
              <a:rPr sz="900" dirty="0"/>
              <a:t> 0，偶发出现大值</a:t>
            </a:r>
          </a:p>
          <a:p>
            <a:pPr>
              <a:spcAft>
                <a:spcPts val="400"/>
              </a:spcAft>
              <a:defRPr sz="1100" b="0">
                <a:solidFill>
                  <a:srgbClr val="6C757D"/>
                </a:solidFill>
                <a:latin typeface="宋体"/>
              </a:defRPr>
            </a:pPr>
            <a:r>
              <a:rPr sz="900" dirty="0" err="1"/>
              <a:t>统计规律难以捕捉，任何点预测都不可靠</a:t>
            </a:r>
            <a:endParaRPr sz="900" dirty="0"/>
          </a:p>
          <a:p>
            <a:pPr>
              <a:spcAft>
                <a:spcPts val="400"/>
              </a:spcAft>
              <a:defRPr sz="1200" b="1">
                <a:solidFill>
                  <a:srgbClr val="333333"/>
                </a:solidFill>
                <a:latin typeface="宋体"/>
              </a:defRPr>
            </a:pPr>
            <a:r>
              <a:rPr sz="900" dirty="0"/>
              <a:t>② </a:t>
            </a:r>
            <a:r>
              <a:rPr sz="900" dirty="0" err="1"/>
              <a:t>历史数据过短</a:t>
            </a:r>
            <a:endParaRPr sz="900" dirty="0"/>
          </a:p>
          <a:p>
            <a:pPr>
              <a:spcAft>
                <a:spcPts val="400"/>
              </a:spcAft>
              <a:defRPr sz="1100" b="0">
                <a:solidFill>
                  <a:srgbClr val="6C757D"/>
                </a:solidFill>
                <a:latin typeface="宋体"/>
              </a:defRPr>
            </a:pPr>
            <a:r>
              <a:rPr sz="900" dirty="0" err="1"/>
              <a:t>序列仅有数月，无法识别趋势和季节模式</a:t>
            </a:r>
            <a:endParaRPr sz="900" dirty="0"/>
          </a:p>
          <a:p>
            <a:pPr>
              <a:spcAft>
                <a:spcPts val="400"/>
              </a:spcAft>
              <a:defRPr sz="1100" b="0">
                <a:solidFill>
                  <a:srgbClr val="6C757D"/>
                </a:solidFill>
                <a:latin typeface="宋体"/>
              </a:defRPr>
            </a:pPr>
            <a:r>
              <a:rPr sz="900" dirty="0" err="1"/>
              <a:t>模型等同于用极少量样本推测复杂规律</a:t>
            </a:r>
            <a:endParaRPr sz="900" dirty="0"/>
          </a:p>
          <a:p>
            <a:pPr>
              <a:spcAft>
                <a:spcPts val="400"/>
              </a:spcAft>
              <a:defRPr sz="1200" b="1">
                <a:solidFill>
                  <a:srgbClr val="333333"/>
                </a:solidFill>
                <a:latin typeface="宋体"/>
              </a:defRPr>
            </a:pPr>
            <a:r>
              <a:rPr sz="900" dirty="0"/>
              <a:t>③ </a:t>
            </a:r>
            <a:r>
              <a:rPr sz="900" dirty="0" err="1"/>
              <a:t>结构性变化（分布漂移</a:t>
            </a:r>
            <a:r>
              <a:rPr sz="900" dirty="0"/>
              <a:t>）</a:t>
            </a:r>
          </a:p>
          <a:p>
            <a:pPr>
              <a:spcAft>
                <a:spcPts val="400"/>
              </a:spcAft>
              <a:defRPr sz="1100" b="0">
                <a:solidFill>
                  <a:srgbClr val="6C757D"/>
                </a:solidFill>
                <a:latin typeface="宋体"/>
              </a:defRPr>
            </a:pPr>
            <a:r>
              <a:rPr sz="900" dirty="0" err="1"/>
              <a:t>促销活动、渠道变更、竞品上市等外部冲击</a:t>
            </a:r>
            <a:endParaRPr sz="900" dirty="0"/>
          </a:p>
          <a:p>
            <a:pPr>
              <a:spcAft>
                <a:spcPts val="400"/>
              </a:spcAft>
              <a:defRPr sz="1100" b="0">
                <a:solidFill>
                  <a:srgbClr val="6C757D"/>
                </a:solidFill>
                <a:latin typeface="宋体"/>
              </a:defRPr>
            </a:pPr>
            <a:r>
              <a:rPr sz="900" dirty="0" err="1"/>
              <a:t>历史模式不再适用于未来，模型无法感知</a:t>
            </a:r>
            <a:endParaRPr sz="900" dirty="0"/>
          </a:p>
          <a:p>
            <a:pPr>
              <a:spcAft>
                <a:spcPts val="400"/>
              </a:spcAft>
              <a:defRPr sz="1200" b="1">
                <a:solidFill>
                  <a:srgbClr val="333333"/>
                </a:solidFill>
                <a:latin typeface="宋体"/>
              </a:defRPr>
            </a:pPr>
            <a:r>
              <a:rPr sz="900" dirty="0"/>
              <a:t>④ </a:t>
            </a:r>
            <a:r>
              <a:rPr sz="900" dirty="0" err="1"/>
              <a:t>高波动性</a:t>
            </a:r>
            <a:endParaRPr sz="900" dirty="0"/>
          </a:p>
          <a:p>
            <a:pPr>
              <a:spcAft>
                <a:spcPts val="400"/>
              </a:spcAft>
              <a:defRPr sz="1100" b="0">
                <a:solidFill>
                  <a:srgbClr val="6C757D"/>
                </a:solidFill>
                <a:latin typeface="宋体"/>
              </a:defRPr>
            </a:pPr>
            <a:r>
              <a:rPr sz="900" dirty="0" err="1"/>
              <a:t>销量忽高忽低、方差极大</a:t>
            </a:r>
            <a:endParaRPr sz="900" dirty="0"/>
          </a:p>
          <a:p>
            <a:pPr>
              <a:spcAft>
                <a:spcPts val="400"/>
              </a:spcAft>
              <a:defRPr sz="1100" b="0">
                <a:solidFill>
                  <a:srgbClr val="6C757D"/>
                </a:solidFill>
                <a:latin typeface="宋体"/>
              </a:defRPr>
            </a:pPr>
            <a:r>
              <a:rPr sz="900" dirty="0" err="1"/>
              <a:t>此时准确率数字虽低，但属于数据本质特征</a:t>
            </a:r>
            <a:endParaRPr sz="900" dirty="0"/>
          </a:p>
        </p:txBody>
      </p:sp>
      <p:sp>
        <p:nvSpPr>
          <p:cNvPr id="10" name="Rounded Rectangle 9"/>
          <p:cNvSpPr/>
          <p:nvPr/>
        </p:nvSpPr>
        <p:spPr>
          <a:xfrm>
            <a:off x="685800" y="4677877"/>
            <a:ext cx="1069848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4937760"/>
            <a:ext cx="10241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宋体"/>
              </a:defRPr>
            </a:pPr>
            <a:r>
              <a:rPr dirty="0"/>
              <a:t>🔮 </a:t>
            </a:r>
            <a:r>
              <a:rPr dirty="0" err="1"/>
              <a:t>引入外部特征：促销、节假日、天气、价格等协变量纳入模型，让预测理解波动原因</a:t>
            </a:r>
            <a:endParaRPr dirty="0"/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宋体"/>
              </a:defRPr>
            </a:pPr>
            <a:r>
              <a:rPr dirty="0"/>
              <a:t>📊 </a:t>
            </a:r>
            <a:r>
              <a:rPr dirty="0" err="1"/>
              <a:t>层次化预测：先预测大类总量，再按比例拆分到细分类</a:t>
            </a:r>
            <a:r>
              <a:rPr dirty="0"/>
              <a:t>/</a:t>
            </a:r>
            <a:r>
              <a:rPr dirty="0" err="1"/>
              <a:t>型号，保证层级一致性</a:t>
            </a:r>
            <a:endParaRPr dirty="0"/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宋体"/>
              </a:defRPr>
            </a:pPr>
            <a:r>
              <a:rPr dirty="0"/>
              <a:t>🤝 </a:t>
            </a:r>
            <a:r>
              <a:rPr dirty="0" err="1"/>
              <a:t>集成学习：不再只选单最优算法，改为多算法加权融合（Stacking</a:t>
            </a:r>
            <a:r>
              <a:rPr dirty="0"/>
              <a:t>/Blending），</a:t>
            </a:r>
            <a:r>
              <a:rPr dirty="0" err="1"/>
              <a:t>降低单一偏差</a:t>
            </a:r>
            <a:endParaRPr dirty="0"/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宋体"/>
              </a:defRPr>
            </a:pPr>
            <a:r>
              <a:rPr dirty="0"/>
              <a:t>📐 概率预测：输出置信区间（80%/95%）</a:t>
            </a:r>
            <a:r>
              <a:rPr dirty="0" err="1"/>
              <a:t>而非单点值，量化不确定性，适合库存安全量决策</a:t>
            </a:r>
            <a:endParaRPr dirty="0"/>
          </a:p>
          <a:p>
            <a:pPr>
              <a:spcAft>
                <a:spcPts val="400"/>
              </a:spcAft>
              <a:defRPr sz="1200" b="0">
                <a:solidFill>
                  <a:srgbClr val="6C757D"/>
                </a:solidFill>
                <a:latin typeface="宋体"/>
              </a:defRPr>
            </a:pPr>
            <a:r>
              <a:rPr dirty="0"/>
              <a:t>📈 </a:t>
            </a:r>
            <a:r>
              <a:rPr dirty="0" err="1"/>
              <a:t>更丰富的间歇需求模型：iMAPA</a:t>
            </a:r>
            <a:r>
              <a:rPr dirty="0"/>
              <a:t>/TSB/</a:t>
            </a:r>
            <a:r>
              <a:rPr dirty="0" err="1"/>
              <a:t>负二项回归等专门方法，替代简单</a:t>
            </a:r>
            <a:r>
              <a:rPr dirty="0"/>
              <a:t> Croston </a:t>
            </a:r>
            <a:r>
              <a:rPr dirty="0" err="1"/>
              <a:t>变体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宋体"/>
              </a:defRPr>
            </a:pPr>
            <a: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5E4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6784848"/>
            <a:ext cx="12191695" cy="73152"/>
          </a:xfrm>
          <a:prstGeom prst="roundRect">
            <a:avLst/>
          </a:prstGeom>
          <a:solidFill>
            <a:srgbClr val="5E4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1A1A2E"/>
                </a:solidFill>
                <a:latin typeface="宋体"/>
              </a:defRPr>
            </a:pPr>
            <a: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C757D"/>
                </a:solidFill>
                <a:latin typeface="宋体"/>
              </a:defRPr>
            </a:pPr>
            <a:r>
              <a:t>动销预测系统 — 基于多算法回溯验证的零售动销智能预测平台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3474720"/>
            <a:ext cx="3047695" cy="27432"/>
          </a:xfrm>
          <a:prstGeom prst="roundRect">
            <a:avLst/>
          </a:prstGeom>
          <a:solidFill>
            <a:srgbClr val="5E4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0" y="3931920"/>
            <a:ext cx="6675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C757D"/>
                </a:solidFill>
                <a:latin typeface="宋体"/>
              </a:defRPr>
            </a:pPr>
            <a:r>
              <a:t>3,469 行代码 | 21 个类 | 125 个方法</a:t>
            </a:r>
            <a:br/>
            <a:r>
              <a:t>9 种预测算法 | 4 级维度 | 18 条 FAQ（常见问题）</a:t>
            </a:r>
            <a:br/>
            <a:r>
              <a:t>从数据加载到结果渲染的全栈实现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621792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C757D"/>
                </a:solidFill>
                <a:latin typeface="宋体"/>
              </a:defRPr>
            </a:pPr>
            <a:r>
              <a:t>东亚重工  |  程泽文 202321101063  |  骆宇鑫 202321101106  |  2026 年 7 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1143</Words>
  <Application>Microsoft Office PowerPoint</Application>
  <PresentationFormat>宽屏</PresentationFormat>
  <Paragraphs>202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泽文 程</cp:lastModifiedBy>
  <cp:revision>8</cp:revision>
  <dcterms:created xsi:type="dcterms:W3CDTF">2013-01-27T09:14:16Z</dcterms:created>
  <dcterms:modified xsi:type="dcterms:W3CDTF">2026-07-07T06:44:09Z</dcterms:modified>
  <cp:category/>
</cp:coreProperties>
</file>